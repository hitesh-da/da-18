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247" autoAdjust="0"/>
  </p:normalViewPr>
  <p:slideViewPr>
    <p:cSldViewPr snapToGrid="0" snapToObjects="1">
      <p:cViewPr varScale="1">
        <p:scale>
          <a:sx n="106" d="100"/>
          <a:sy n="106" d="100"/>
        </p:scale>
        <p:origin x="3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236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21F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21F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868680"/>
            <a:ext cx="822960" cy="82296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icons/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10826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1488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SALES ANALYTICS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3063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for Global Sales &amp; Profit Performance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41248" y="3703320"/>
            <a:ext cx="2011680" cy="0"/>
          </a:xfrm>
          <a:prstGeom prst="line">
            <a:avLst/>
          </a:prstGeom>
          <a:noFill/>
          <a:ln w="31750">
            <a:solidFill>
              <a:srgbClr val="FF6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841248" y="39776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walks through the dataset behind the dashboard and how each visual turns raw order, customer and product data into insight — covering data sources, the underlying data model, key metrics, and a guided tour of the dashboard itself.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dashboard insight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56" y="1954256"/>
            <a:ext cx="316017" cy="31601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5564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1305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comes from and what each record represents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17830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40080" y="2898648"/>
            <a:ext cx="658368" cy="658368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56" y="3069824"/>
            <a:ext cx="316017" cy="31601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87121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Model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32461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customers, products, and orders connect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0607040" y="289864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640080" y="4014216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icons/doll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56" y="4185392"/>
            <a:ext cx="316017" cy="31601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98678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43616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 and profit measures the dashboard tracks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0607040" y="401421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640080" y="5129784"/>
            <a:ext cx="658368" cy="658368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/home/claude/icons/gr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256" y="5300960"/>
            <a:ext cx="316017" cy="31601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510235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Walkthrough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508760" y="547725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tour of every chart, card, and filter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0607040" y="512978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554480" y="777240"/>
            <a:ext cx="1097280" cy="109728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773" y="1062533"/>
            <a:ext cx="526694" cy="52669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574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3 — Understanding the Data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617720" y="59436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is built on order-level e-commerce transaction data, modeled across five connected tables so that every sale can be traced back to the customer who bought it and the product that was sold.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17720" y="1874520"/>
            <a:ext cx="2148840" cy="1874520"/>
          </a:xfrm>
          <a:prstGeom prst="roundRect">
            <a:avLst>
              <a:gd name="adj" fmla="val 3902"/>
            </a:avLst>
          </a:prstGeom>
          <a:solidFill>
            <a:srgbClr val="F7F8FA"/>
          </a:solidFill>
          <a:ln/>
          <a:effectLst>
            <a:outerShdw blurRad="76200" dist="254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399532" y="2130552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688" y="2282708"/>
            <a:ext cx="280904" cy="2809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9160" y="2834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754880" y="32735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tables in the data model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995160" y="1874520"/>
            <a:ext cx="2148840" cy="1874520"/>
          </a:xfrm>
          <a:prstGeom prst="roundRect">
            <a:avLst>
              <a:gd name="adj" fmla="val 3902"/>
            </a:avLst>
          </a:prstGeom>
          <a:solidFill>
            <a:srgbClr val="F7F8FA"/>
          </a:solidFill>
          <a:ln/>
          <a:effectLst>
            <a:outerShdw blurRad="76200" dist="254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776972" y="2130552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icons/pack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128" y="2282708"/>
            <a:ext cx="280904" cy="28090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86600" y="2834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150K+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132320" y="32735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records in the core sales table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372600" y="1874520"/>
            <a:ext cx="2148840" cy="1874520"/>
          </a:xfrm>
          <a:prstGeom prst="roundRect">
            <a:avLst>
              <a:gd name="adj" fmla="val 3902"/>
            </a:avLst>
          </a:prstGeom>
          <a:solidFill>
            <a:srgbClr val="F7F8FA"/>
          </a:solidFill>
          <a:ln/>
          <a:effectLst>
            <a:outerShdw blurRad="76200" dist="254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10154412" y="2130552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/home/claude/icons/gr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6568" y="2282708"/>
            <a:ext cx="280904" cy="28090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464040" y="2834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9509760" y="32735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Order-item is the grain of the data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4617720" y="4114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tables: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 (transactions) · customer_master (buyers) · product_catalog (items) · dataset_statistics · a consolidated analytics table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617720" y="5074920"/>
            <a:ext cx="69494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 txBox="1"/>
          <p:nvPr/>
        </p:nvSpPr>
        <p:spPr>
          <a:xfrm>
            <a:off x="4617720" y="5257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line item within an order — so a single order with three products contributes three rows, keeping product- and country-level analysis accurate.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tables behind the dashboard connect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57400" y="3383280"/>
            <a:ext cx="4023360" cy="9144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80760" y="3383280"/>
            <a:ext cx="4023360" cy="9144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080760" y="3383280"/>
            <a:ext cx="9144" cy="210312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27889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78992" y="312724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129" y="3260385"/>
            <a:ext cx="245791" cy="24579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91640" y="2935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customer_master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691640" y="33192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details incl. country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961120" y="27889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9125712" y="312724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/home/claude/icons/pack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849" y="3260385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738360" y="2935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product_catalog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9738360" y="33192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 details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937760" y="4905623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5102352" y="523036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/home/claude/icons/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489" y="5363505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715000" y="50383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analytics table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5715000" y="54223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Pre-joined view for reporting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937760" y="27889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 w="19050">
            <a:solidFill>
              <a:srgbClr val="1B2A4A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102352" y="3127248"/>
            <a:ext cx="512064" cy="512064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/home/claude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5489" y="3260385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715000" y="2935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5715000" y="33192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 — one row per order line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8961120" y="489204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9125712" y="523036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4" descr="/home/claude/icons/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849" y="5363505"/>
            <a:ext cx="245791" cy="24579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738360" y="50383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statistics</a:t>
            </a:r>
          </a:p>
        </p:txBody>
      </p:sp>
      <p:sp>
        <p:nvSpPr>
          <p:cNvPr id="31" name="Text 24"/>
          <p:cNvSpPr txBox="1"/>
          <p:nvPr/>
        </p:nvSpPr>
        <p:spPr>
          <a:xfrm>
            <a:off x="9738360" y="54223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reference data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 sits at the center of the model, linked to customer_master and product_catalog — the pattern the dashboard's charts query directly to break profit and sales down by country and category.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 Tracked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numbers every visual in the dashboard is built from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/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icons/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22137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0574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Gross Sales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260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 before any discounts, returns, or deductions.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/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537960" y="2011680"/>
            <a:ext cx="777240" cy="77724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icons/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042" y="22137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20574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Sales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9260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after discounts and returns — a truer view of realized sales.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/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68680" y="448056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icons/doll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762" y="468264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45262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53949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after costs are subtracted from sales — the dashboard's headline measure.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16052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/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537960" y="4480560"/>
            <a:ext cx="777240" cy="77724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icons/pack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0042" y="468264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0" y="45262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Quantity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6537960" y="53949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 across all order line items.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interactive page designed for at-a-glance monitoring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built for quick scanning — no tabs to click through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surface totals first, before any chart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charts break performance down by geography and category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country slicer lets any viewer filter the whole page instantly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417320"/>
            <a:ext cx="539496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537960" y="1554480"/>
            <a:ext cx="5120640" cy="309372"/>
          </a:xfrm>
          <a:prstGeom prst="roundRect">
            <a:avLst>
              <a:gd name="adj" fmla="val 11823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611112" y="1554480"/>
            <a:ext cx="4754880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Title Banner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37960" y="1863852"/>
            <a:ext cx="2405634" cy="1666875"/>
          </a:xfrm>
          <a:prstGeom prst="roundRect">
            <a:avLst>
              <a:gd name="adj" fmla="val 2194"/>
            </a:avLst>
          </a:prstGeom>
          <a:solidFill>
            <a:srgbClr val="FF6B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icons/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191871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30568" y="1863852"/>
            <a:ext cx="2039874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Profit by Country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8943594" y="1863852"/>
            <a:ext cx="2715006" cy="1666875"/>
          </a:xfrm>
          <a:prstGeom prst="roundRect">
            <a:avLst>
              <a:gd name="adj" fmla="val 2194"/>
            </a:avLst>
          </a:prstGeom>
          <a:solidFill>
            <a:srgbClr val="3D4E7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icons/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8458" y="191871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236202" y="1863852"/>
            <a:ext cx="2349246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Profit by Category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537960" y="3530727"/>
            <a:ext cx="3856482" cy="906780"/>
          </a:xfrm>
          <a:prstGeom prst="roundRect">
            <a:avLst>
              <a:gd name="adj" fmla="val 4034"/>
            </a:avLst>
          </a:prstGeom>
          <a:solidFill>
            <a:srgbClr val="F4A3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icons/doll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3585591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30568" y="3530727"/>
            <a:ext cx="3490722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KPI Cards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10394442" y="3530727"/>
            <a:ext cx="1264158" cy="906780"/>
          </a:xfrm>
          <a:prstGeom prst="roundRect">
            <a:avLst>
              <a:gd name="adj" fmla="val 4034"/>
            </a:avLst>
          </a:prstGeom>
          <a:solidFill>
            <a:srgbClr val="5B6B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/home/claude/icons/fil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9306" y="3585591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687050" y="3530727"/>
            <a:ext cx="898398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Country Filter</a:t>
            </a:r>
            <a:endParaRPr lang="en-US" sz="800" dirty="0"/>
          </a:p>
        </p:txBody>
      </p:sp>
      <p:sp>
        <p:nvSpPr>
          <p:cNvPr id="20" name="Text 14"/>
          <p:cNvSpPr txBox="1"/>
          <p:nvPr/>
        </p:nvSpPr>
        <p:spPr>
          <a:xfrm>
            <a:off x="6537960" y="46360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dashboard layout, shown to scale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by Country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 +  Country Slicer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371600" cy="13716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icons/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2231136"/>
            <a:ext cx="658368" cy="6583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514600" y="1828800"/>
            <a:ext cx="424850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 chart splits total profit by </a:t>
            </a:r>
            <a:r>
              <a:rPr lang="en-US" sz="14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customer_country</a:t>
            </a: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each slice labeled by its percent of the whole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 immediate read on which markets contribute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profit.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3794760"/>
            <a:ext cx="1371600" cy="137160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4151376"/>
            <a:ext cx="658368" cy="6583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14600" y="3749040"/>
            <a:ext cx="424850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country slicer beside it lets a viewer click one or more countries and instantly filter every other visual on the page — the pie, the bar chart, and the KPI cards — to that selection.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822960" y="5532120"/>
            <a:ext cx="107442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 txBox="1"/>
          <p:nvPr/>
        </p:nvSpPr>
        <p:spPr>
          <a:xfrm>
            <a:off x="822960" y="5715000"/>
            <a:ext cx="64146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regional profit concentration is often uneven — this pairing lets a reviewer isolate a single country and see its full performance story on the same page.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FC11B3A-64F5-685C-DD0C-A2BD5FD5D7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844" y="1371600"/>
            <a:ext cx="5108851" cy="30012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23BA52E-D2BD-BDD6-17D6-F8CBF528D5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576" y="4436199"/>
            <a:ext cx="2844424" cy="24217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by Product Category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 +  KPI Summary Cards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371600" cy="13716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icons/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2231136"/>
            <a:ext cx="658368" cy="6583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514600" y="1828800"/>
            <a:ext cx="376543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chart ranks every product_category by total profit, sorted highest to lowest — making it easy to spot which categories drive the business and which lag behind.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3794760"/>
            <a:ext cx="1371600" cy="137160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icons/dol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4151376"/>
            <a:ext cx="658368" cy="6583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14600" y="3749040"/>
            <a:ext cx="376543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KPI cards along the bottom surface the headline totals — Profit, Quantity, Net Sales, and Gross Sales — so the top-line numbers are visible before drilling into any chart.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822960" y="5532120"/>
            <a:ext cx="107442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 txBox="1"/>
          <p:nvPr/>
        </p:nvSpPr>
        <p:spPr>
          <a:xfrm>
            <a:off x="822960" y="571500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because every card and chart shares the same slicer, the totals update together — there's never a mismatch between the headline numbers and the chart detail.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BD72BE6-7947-99B8-6F3F-BED7D1397C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668" y="1371600"/>
            <a:ext cx="5834332" cy="248716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FA0369C-95FC-399E-5BF8-46A171D5C7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668" y="3858767"/>
            <a:ext cx="5834332" cy="16733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Most From the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ways to put it to 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41248" y="1892808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9" y="205922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2938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top markets fast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651760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country pie chart to find where profit is concentrated before planning regional campaigns.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510528" y="1892808"/>
            <a:ext cx="640080" cy="64008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949" y="205922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92938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Filter, don't guess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6510528" y="2651760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country slicer to see one market's full picture — profit, sales, and category mix together.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41248" y="4133088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icons/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9" y="429950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16966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categories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41248" y="4892040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chart's ranking highlights which product categories to double down on, and which to review.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510528" y="4133088"/>
            <a:ext cx="640080" cy="64008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6949" y="429950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416966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the totals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6510528" y="4892040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everything shares one filter, the KPI cards and charts always tell a consistent story.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754880" cy="4754880"/>
          </a:xfrm>
          <a:prstGeom prst="ellipse">
            <a:avLst/>
          </a:prstGeom>
          <a:solidFill>
            <a:srgbClr val="121F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-1828800"/>
            <a:ext cx="4206240" cy="4206240"/>
          </a:xfrm>
          <a:prstGeom prst="ellipse">
            <a:avLst/>
          </a:prstGeom>
          <a:solidFill>
            <a:srgbClr val="121F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592928" y="1874520"/>
            <a:ext cx="1005840" cy="100584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446" y="2136038"/>
            <a:ext cx="482803" cy="482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31089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854</Words>
  <Application>Microsoft Office PowerPoint</Application>
  <PresentationFormat>Widescreen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Hitesh Kodwani</cp:lastModifiedBy>
  <cp:revision>2</cp:revision>
  <dcterms:created xsi:type="dcterms:W3CDTF">2026-09-17T05:33:07Z</dcterms:created>
  <dcterms:modified xsi:type="dcterms:W3CDTF">2026-09-17T05:46:59Z</dcterms:modified>
</cp:coreProperties>
</file>